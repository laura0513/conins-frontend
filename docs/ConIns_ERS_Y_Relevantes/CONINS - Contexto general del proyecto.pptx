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embeddedFontLst>
    <p:embeddedFont>
      <p:font typeface="Montserrat"/>
      <p:regular r:id="rId201314"/>
      <p:bold r:id="rId301314"/>
    </p:embeddedFont>
    <p:embeddedFont>
      <p:font typeface="Roboto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953" y="2722513"/>
            <a:ext cx="1450777" cy="1206996"/>
          </a:xfrm>
          <a:prstGeom prst="rect">
            <a:avLst/>
          </a:prstGeom>
        </p:spPr>
      </p:pic>
      <p:sp>
        <p:nvSpPr>
          <p:cNvPr id="4" name="SK-1-text-3"/>
          <p:cNvSpPr/>
          <p:nvPr/>
        </p:nvSpPr>
        <p:spPr>
          <a:xfrm>
            <a:off x="725388" y="610344"/>
            <a:ext cx="841028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725" dirty="0"/>
          </a:p>
        </p:txBody>
      </p:sp>
      <p:sp>
        <p:nvSpPr>
          <p:cNvPr id="5" name="SK-1-text-4"/>
          <p:cNvSpPr/>
          <p:nvPr/>
        </p:nvSpPr>
        <p:spPr>
          <a:xfrm>
            <a:off x="3781871" y="2571750"/>
            <a:ext cx="4640163" cy="89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6450" b="1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CONINS</a:t>
            </a:r>
            <a:endParaRPr lang="en-US" sz="6450" dirty="0"/>
          </a:p>
        </p:txBody>
      </p:sp>
      <p:sp>
        <p:nvSpPr>
          <p:cNvPr id="6" name="SK-1-text-5"/>
          <p:cNvSpPr/>
          <p:nvPr/>
        </p:nvSpPr>
        <p:spPr>
          <a:xfrm>
            <a:off x="3059757" y="3614142"/>
            <a:ext cx="6047929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Control de Instructores</a:t>
            </a:r>
            <a:endParaRPr lang="en-US" sz="2700" dirty="0"/>
          </a:p>
        </p:txBody>
      </p:sp>
      <p:sp>
        <p:nvSpPr>
          <p:cNvPr id="7" name="SK-1-text-6"/>
          <p:cNvSpPr/>
          <p:nvPr/>
        </p:nvSpPr>
        <p:spPr>
          <a:xfrm>
            <a:off x="3206353" y="4478238"/>
            <a:ext cx="5681365" cy="8846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 quién enseña, a qué grupo, en</a:t>
            </a:r>
            <a:endParaRPr lang="en-US" sz="2250" dirty="0"/>
          </a:p>
          <a:p>
            <a:pPr algn="ctr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espacio y en qué horario.</a:t>
            </a:r>
            <a:endParaRPr lang="en-US" sz="2250" dirty="0"/>
          </a:p>
        </p:txBody>
      </p:sp>
      <p:sp>
        <p:nvSpPr>
          <p:cNvPr id="8" name="SK-1-text-7"/>
          <p:cNvSpPr/>
          <p:nvPr/>
        </p:nvSpPr>
        <p:spPr>
          <a:xfrm>
            <a:off x="3887688" y="6364188"/>
            <a:ext cx="441647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general del proyecto · SENA CDMC ·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80" y="397669"/>
            <a:ext cx="1036290" cy="37713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0" y="1277541"/>
            <a:ext cx="11070282" cy="96961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0" y="3442692"/>
            <a:ext cx="5364361" cy="2818507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61" y="3429000"/>
            <a:ext cx="5339953" cy="2771924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161" y="5109121"/>
            <a:ext cx="1950690" cy="1748730"/>
          </a:xfrm>
          <a:prstGeom prst="rect">
            <a:avLst/>
          </a:prstGeom>
        </p:spPr>
      </p:pic>
      <p:sp>
        <p:nvSpPr>
          <p:cNvPr id="8" name="SK-2-text-7"/>
          <p:cNvSpPr/>
          <p:nvPr/>
        </p:nvSpPr>
        <p:spPr>
          <a:xfrm>
            <a:off x="657076" y="473125"/>
            <a:ext cx="80709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SENA</a:t>
            </a:r>
            <a:endParaRPr lang="en-US" sz="1575" dirty="0"/>
          </a:p>
        </p:txBody>
      </p:sp>
      <p:sp>
        <p:nvSpPr>
          <p:cNvPr id="9" name="SK-2-text-8"/>
          <p:cNvSpPr/>
          <p:nvPr/>
        </p:nvSpPr>
        <p:spPr>
          <a:xfrm>
            <a:off x="1743373" y="438894"/>
            <a:ext cx="599122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22222"/>
                </a:solidFill>
              </a:rPr>
              <a:t>¿Qué es CONINS?</a:t>
            </a:r>
            <a:endParaRPr lang="en-US" sz="2550" dirty="0"/>
          </a:p>
        </p:txBody>
      </p:sp>
      <p:sp>
        <p:nvSpPr>
          <p:cNvPr id="10" name="SK-2-text-9"/>
          <p:cNvSpPr/>
          <p:nvPr/>
        </p:nvSpPr>
        <p:spPr>
          <a:xfrm>
            <a:off x="957411" y="1563588"/>
            <a:ext cx="10252621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“Ayuda a saber quién enseña, a qué grupo, en qué ambiente y en qué jornada.”</a:t>
            </a:r>
            <a:endParaRPr lang="en-US" sz="2100" dirty="0"/>
          </a:p>
        </p:txBody>
      </p:sp>
      <p:sp>
        <p:nvSpPr>
          <p:cNvPr id="11" name="SK-2-text-10"/>
          <p:cNvSpPr/>
          <p:nvPr/>
        </p:nvSpPr>
        <p:spPr>
          <a:xfrm>
            <a:off x="420886" y="2715667"/>
            <a:ext cx="11203632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CONINS es una herramienta web que reúne en un solo lugar la programación académica del CDMC.</a:t>
            </a:r>
            <a:endParaRPr lang="en-US" sz="2100" dirty="0"/>
          </a:p>
        </p:txBody>
      </p:sp>
      <p:sp>
        <p:nvSpPr>
          <p:cNvPr id="12" name="SK-2-text-11"/>
          <p:cNvSpPr/>
          <p:nvPr/>
        </p:nvSpPr>
        <p:spPr>
          <a:xfrm>
            <a:off x="828973" y="3710136"/>
            <a:ext cx="4697730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4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ayuda a:</a:t>
            </a:r>
            <a:endParaRPr lang="en-US" sz="2700" dirty="0"/>
          </a:p>
        </p:txBody>
      </p:sp>
      <p:sp>
        <p:nvSpPr>
          <p:cNvPr id="13" name="SK-2-text-12"/>
          <p:cNvSpPr/>
          <p:nvPr/>
        </p:nvSpPr>
        <p:spPr>
          <a:xfrm>
            <a:off x="816769" y="4471392"/>
            <a:ext cx="653415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Organizar horarios</a:t>
            </a:r>
            <a:endParaRPr lang="en-US" sz="2100" dirty="0"/>
          </a:p>
        </p:txBody>
      </p:sp>
      <p:sp>
        <p:nvSpPr>
          <p:cNvPr id="14" name="SK-2-text-13"/>
          <p:cNvSpPr/>
          <p:nvPr/>
        </p:nvSpPr>
        <p:spPr>
          <a:xfrm>
            <a:off x="816769" y="4889748"/>
            <a:ext cx="1101471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Asignar instructores y ambientes</a:t>
            </a:r>
            <a:endParaRPr lang="en-US" sz="2100" dirty="0"/>
          </a:p>
        </p:txBody>
      </p:sp>
      <p:sp>
        <p:nvSpPr>
          <p:cNvPr id="15" name="SK-2-text-14"/>
          <p:cNvSpPr/>
          <p:nvPr/>
        </p:nvSpPr>
        <p:spPr>
          <a:xfrm>
            <a:off x="816769" y="5287417"/>
            <a:ext cx="11375231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Avisar posibles cruces o sobrecargas</a:t>
            </a:r>
            <a:endParaRPr lang="en-US" sz="2100" dirty="0"/>
          </a:p>
        </p:txBody>
      </p:sp>
      <p:sp>
        <p:nvSpPr>
          <p:cNvPr id="16" name="SK-2-text-15"/>
          <p:cNvSpPr/>
          <p:nvPr/>
        </p:nvSpPr>
        <p:spPr>
          <a:xfrm>
            <a:off x="816769" y="5698927"/>
            <a:ext cx="1005459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Consultar y exportar la malla</a:t>
            </a:r>
            <a:endParaRPr lang="en-US" sz="2100" dirty="0"/>
          </a:p>
        </p:txBody>
      </p:sp>
      <p:sp>
        <p:nvSpPr>
          <p:cNvPr id="17" name="SK-2-text-16"/>
          <p:cNvSpPr/>
          <p:nvPr/>
        </p:nvSpPr>
        <p:spPr>
          <a:xfrm>
            <a:off x="6559153" y="3710136"/>
            <a:ext cx="5632847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reemplaza a:</a:t>
            </a:r>
            <a:endParaRPr lang="en-US" sz="2700" dirty="0"/>
          </a:p>
        </p:txBody>
      </p:sp>
      <p:sp>
        <p:nvSpPr>
          <p:cNvPr id="18" name="SK-2-text-17"/>
          <p:cNvSpPr/>
          <p:nvPr/>
        </p:nvSpPr>
        <p:spPr>
          <a:xfrm>
            <a:off x="6547098" y="4464546"/>
            <a:ext cx="397383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Sofía Plus</a:t>
            </a:r>
            <a:endParaRPr lang="en-US" sz="2100" dirty="0"/>
          </a:p>
        </p:txBody>
      </p:sp>
      <p:sp>
        <p:nvSpPr>
          <p:cNvPr id="19" name="SK-2-text-18"/>
          <p:cNvSpPr/>
          <p:nvPr/>
        </p:nvSpPr>
        <p:spPr>
          <a:xfrm>
            <a:off x="6559153" y="4875907"/>
            <a:ext cx="5632847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La gestión de notas</a:t>
            </a:r>
            <a:endParaRPr lang="en-US" sz="2100" dirty="0"/>
          </a:p>
        </p:txBody>
      </p:sp>
      <p:sp>
        <p:nvSpPr>
          <p:cNvPr id="20" name="SK-2-text-19"/>
          <p:cNvSpPr/>
          <p:nvPr/>
        </p:nvSpPr>
        <p:spPr>
          <a:xfrm>
            <a:off x="6559153" y="5287417"/>
            <a:ext cx="5632847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La creación de programas oficiales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80" y="377130"/>
            <a:ext cx="889992" cy="411361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0" y="1412677"/>
            <a:ext cx="2694384" cy="1803648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67" y="1398984"/>
            <a:ext cx="2694384" cy="1782961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53" y="1398984"/>
            <a:ext cx="2694384" cy="1782961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3380929"/>
            <a:ext cx="2694384" cy="1686967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467" y="3380929"/>
            <a:ext cx="2694384" cy="1680121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353" y="3380929"/>
            <a:ext cx="2694384" cy="167327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584" y="3524994"/>
            <a:ext cx="292596" cy="370284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875" y="3524994"/>
            <a:ext cx="463153" cy="445740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6494" y="3545532"/>
            <a:ext cx="426690" cy="418207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2173" y="3552379"/>
            <a:ext cx="511969" cy="411361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7867" y="3538686"/>
            <a:ext cx="548580" cy="425053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286" y="3559225"/>
            <a:ext cx="463153" cy="377130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8361" y="1577280"/>
            <a:ext cx="743694" cy="45258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3875" y="1577280"/>
            <a:ext cx="365671" cy="445740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0753" y="1563588"/>
            <a:ext cx="621655" cy="479971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72173" y="1577280"/>
            <a:ext cx="511969" cy="432048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9286" y="1611511"/>
            <a:ext cx="463153" cy="377130"/>
          </a:xfrm>
          <a:prstGeom prst="rect">
            <a:avLst/>
          </a:prstGeom>
        </p:spPr>
      </p:pic>
      <p:sp>
        <p:nvSpPr>
          <p:cNvPr id="21" name="SK-3-text-20"/>
          <p:cNvSpPr/>
          <p:nvPr/>
        </p:nvSpPr>
        <p:spPr>
          <a:xfrm>
            <a:off x="696069" y="473125"/>
            <a:ext cx="76572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500" dirty="0"/>
          </a:p>
        </p:txBody>
      </p:sp>
      <p:sp>
        <p:nvSpPr>
          <p:cNvPr id="22" name="SK-3-text-21"/>
          <p:cNvSpPr/>
          <p:nvPr/>
        </p:nvSpPr>
        <p:spPr>
          <a:xfrm>
            <a:off x="1743373" y="411361"/>
            <a:ext cx="8812530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</a:rPr>
              <a:t>¿Qué permitirá hacer?</a:t>
            </a:r>
            <a:endParaRPr lang="en-US" sz="2700" dirty="0"/>
          </a:p>
        </p:txBody>
      </p:sp>
      <p:sp>
        <p:nvSpPr>
          <p:cNvPr id="23" name="SK-3-text-22"/>
          <p:cNvSpPr/>
          <p:nvPr/>
        </p:nvSpPr>
        <p:spPr>
          <a:xfrm>
            <a:off x="1743373" y="877788"/>
            <a:ext cx="10448627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Funciones pensadas para apoyar la coordinación académica</a:t>
            </a:r>
            <a:endParaRPr lang="en-US" sz="1500" dirty="0"/>
          </a:p>
        </p:txBody>
      </p:sp>
      <p:sp>
        <p:nvSpPr>
          <p:cNvPr id="24" name="SK-3-text-23"/>
          <p:cNvSpPr/>
          <p:nvPr/>
        </p:nvSpPr>
        <p:spPr>
          <a:xfrm>
            <a:off x="707082" y="2215009"/>
            <a:ext cx="3752850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y roles</a:t>
            </a:r>
            <a:endParaRPr lang="en-US" sz="1500" dirty="0"/>
          </a:p>
        </p:txBody>
      </p:sp>
      <p:sp>
        <p:nvSpPr>
          <p:cNvPr id="25" name="SK-3-text-24"/>
          <p:cNvSpPr/>
          <p:nvPr/>
        </p:nvSpPr>
        <p:spPr>
          <a:xfrm>
            <a:off x="707082" y="2564755"/>
            <a:ext cx="2023765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persona ve lo que le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corresponde.</a:t>
            </a:r>
            <a:endParaRPr lang="en-US" sz="1200" dirty="0"/>
          </a:p>
        </p:txBody>
      </p:sp>
      <p:sp>
        <p:nvSpPr>
          <p:cNvPr id="26" name="SK-3-text-25"/>
          <p:cNvSpPr/>
          <p:nvPr/>
        </p:nvSpPr>
        <p:spPr>
          <a:xfrm>
            <a:off x="3572173" y="2228850"/>
            <a:ext cx="283845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Instructores</a:t>
            </a:r>
            <a:endParaRPr lang="en-US" sz="1500" dirty="0"/>
          </a:p>
        </p:txBody>
      </p:sp>
      <p:sp>
        <p:nvSpPr>
          <p:cNvPr id="27" name="SK-3-text-26"/>
          <p:cNvSpPr/>
          <p:nvPr/>
        </p:nvSpPr>
        <p:spPr>
          <a:xfrm>
            <a:off x="3559969" y="2564755"/>
            <a:ext cx="2194471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disponibilidad,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novedades y competencias.</a:t>
            </a:r>
            <a:endParaRPr lang="en-US" sz="1200" dirty="0"/>
          </a:p>
        </p:txBody>
      </p:sp>
      <p:sp>
        <p:nvSpPr>
          <p:cNvPr id="28" name="SK-3-text-27"/>
          <p:cNvSpPr/>
          <p:nvPr/>
        </p:nvSpPr>
        <p:spPr>
          <a:xfrm>
            <a:off x="6425059" y="2221855"/>
            <a:ext cx="421005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Fichas y programas</a:t>
            </a:r>
            <a:endParaRPr lang="en-US" sz="1500" dirty="0"/>
          </a:p>
        </p:txBody>
      </p:sp>
      <p:sp>
        <p:nvSpPr>
          <p:cNvPr id="29" name="SK-3-text-28"/>
          <p:cNvSpPr/>
          <p:nvPr/>
        </p:nvSpPr>
        <p:spPr>
          <a:xfrm>
            <a:off x="6412855" y="2564755"/>
            <a:ext cx="2450455" cy="4388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 grupos de formación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su información clave.</a:t>
            </a:r>
            <a:endParaRPr lang="en-US" sz="1200" dirty="0"/>
          </a:p>
        </p:txBody>
      </p:sp>
      <p:sp>
        <p:nvSpPr>
          <p:cNvPr id="30" name="SK-3-text-29"/>
          <p:cNvSpPr/>
          <p:nvPr/>
        </p:nvSpPr>
        <p:spPr>
          <a:xfrm>
            <a:off x="707082" y="4135338"/>
            <a:ext cx="19240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Horarios</a:t>
            </a:r>
            <a:endParaRPr lang="en-US" sz="1500" dirty="0"/>
          </a:p>
        </p:txBody>
      </p:sp>
      <p:sp>
        <p:nvSpPr>
          <p:cNvPr id="31" name="SK-3-text-30"/>
          <p:cNvSpPr/>
          <p:nvPr/>
        </p:nvSpPr>
        <p:spPr>
          <a:xfrm>
            <a:off x="707082" y="4457700"/>
            <a:ext cx="2060377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Muestra la malla de clases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instructor o ficha.</a:t>
            </a:r>
            <a:endParaRPr lang="en-US" sz="1200" dirty="0"/>
          </a:p>
        </p:txBody>
      </p:sp>
      <p:sp>
        <p:nvSpPr>
          <p:cNvPr id="32" name="SK-3-text-31"/>
          <p:cNvSpPr/>
          <p:nvPr/>
        </p:nvSpPr>
        <p:spPr>
          <a:xfrm>
            <a:off x="3559969" y="4135338"/>
            <a:ext cx="2152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Ambientes</a:t>
            </a:r>
            <a:endParaRPr lang="en-US" sz="1500" dirty="0"/>
          </a:p>
        </p:txBody>
      </p:sp>
      <p:sp>
        <p:nvSpPr>
          <p:cNvPr id="33" name="SK-3-text-32"/>
          <p:cNvSpPr/>
          <p:nvPr/>
        </p:nvSpPr>
        <p:spPr>
          <a:xfrm>
            <a:off x="3559969" y="4464546"/>
            <a:ext cx="1779984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 cruces en aulas y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talleres.</a:t>
            </a:r>
            <a:endParaRPr lang="en-US" sz="1200" dirty="0"/>
          </a:p>
        </p:txBody>
      </p:sp>
      <p:sp>
        <p:nvSpPr>
          <p:cNvPr id="34" name="SK-3-text-33"/>
          <p:cNvSpPr/>
          <p:nvPr/>
        </p:nvSpPr>
        <p:spPr>
          <a:xfrm>
            <a:off x="6412855" y="4135338"/>
            <a:ext cx="42100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y reportes</a:t>
            </a:r>
            <a:endParaRPr lang="en-US" sz="1500" dirty="0"/>
          </a:p>
        </p:txBody>
      </p:sp>
      <p:sp>
        <p:nvSpPr>
          <p:cNvPr id="35" name="SK-3-text-34"/>
          <p:cNvSpPr/>
          <p:nvPr/>
        </p:nvSpPr>
        <p:spPr>
          <a:xfrm>
            <a:off x="6412855" y="4464546"/>
            <a:ext cx="237738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Advierte posibles conflictos y</a:t>
            </a:r>
            <a:endParaRPr lang="en-US" sz="12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exportar información.</a:t>
            </a:r>
            <a:endParaRPr lang="en-US" sz="1200" dirty="0"/>
          </a:p>
        </p:txBody>
      </p:sp>
      <p:sp>
        <p:nvSpPr>
          <p:cNvPr id="36" name="SK-3-text-35"/>
          <p:cNvSpPr/>
          <p:nvPr/>
        </p:nvSpPr>
        <p:spPr>
          <a:xfrm>
            <a:off x="511969" y="6501259"/>
            <a:ext cx="11680031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diseñado para: subdirector, coordinador medular, coordinador transversal, líder de programa, instructor, con principios de gestión de datos y onboarding de usuario.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84" y="424458"/>
            <a:ext cx="1011882" cy="405854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5" y="3699867"/>
            <a:ext cx="10936188" cy="973782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88" y="4930825"/>
            <a:ext cx="451098" cy="329059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94" y="1220688"/>
            <a:ext cx="10692259" cy="2091630"/>
          </a:xfrm>
          <a:prstGeom prst="rect">
            <a:avLst/>
          </a:prstGeom>
        </p:spPr>
      </p:pic>
      <p:sp>
        <p:nvSpPr>
          <p:cNvPr id="7" name="SK-4-text-6"/>
          <p:cNvSpPr/>
          <p:nvPr/>
        </p:nvSpPr>
        <p:spPr>
          <a:xfrm>
            <a:off x="550069" y="500509"/>
            <a:ext cx="100905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875" dirty="0"/>
          </a:p>
        </p:txBody>
      </p:sp>
      <p:sp>
        <p:nvSpPr>
          <p:cNvPr id="8" name="SK-4-text-7"/>
          <p:cNvSpPr/>
          <p:nvPr/>
        </p:nvSpPr>
        <p:spPr>
          <a:xfrm>
            <a:off x="1743373" y="507355"/>
            <a:ext cx="996410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000000"/>
                </a:solidFill>
              </a:rPr>
              <a:t>Estado actual del proyecto</a:t>
            </a:r>
            <a:endParaRPr lang="en-US" sz="2475" dirty="0"/>
          </a:p>
        </p:txBody>
      </p:sp>
      <p:sp>
        <p:nvSpPr>
          <p:cNvPr id="9" name="SK-4-text-8"/>
          <p:cNvSpPr/>
          <p:nvPr/>
        </p:nvSpPr>
        <p:spPr>
          <a:xfrm>
            <a:off x="865584" y="3874740"/>
            <a:ext cx="9119592" cy="6240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Hoy el proyecto se encuentra en construcción, integrando las partes del sistema y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preparando la etapa de pruebas.</a:t>
            </a:r>
            <a:endParaRPr lang="en-US" sz="1950" dirty="0"/>
          </a:p>
        </p:txBody>
      </p:sp>
      <p:sp>
        <p:nvSpPr>
          <p:cNvPr id="10" name="SK-4-text-9"/>
          <p:cNvSpPr/>
          <p:nvPr/>
        </p:nvSpPr>
        <p:spPr>
          <a:xfrm>
            <a:off x="1377553" y="4999434"/>
            <a:ext cx="5888355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 y acompañamiento</a:t>
            </a:r>
            <a:endParaRPr lang="en-US" sz="1650" dirty="0"/>
          </a:p>
        </p:txBody>
      </p:sp>
      <p:sp>
        <p:nvSpPr>
          <p:cNvPr id="11" name="SK-4-text-10"/>
          <p:cNvSpPr/>
          <p:nvPr/>
        </p:nvSpPr>
        <p:spPr>
          <a:xfrm>
            <a:off x="865584" y="5479405"/>
            <a:ext cx="3669655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Aprendices: Jair Enrique González Buelvas y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Laura Sofía Posada</a:t>
            </a:r>
            <a:endParaRPr lang="en-US" sz="1500" dirty="0"/>
          </a:p>
        </p:txBody>
      </p:sp>
      <p:sp>
        <p:nvSpPr>
          <p:cNvPr id="12" name="SK-4-text-11"/>
          <p:cNvSpPr/>
          <p:nvPr/>
        </p:nvSpPr>
        <p:spPr>
          <a:xfrm>
            <a:off x="6327577" y="5479405"/>
            <a:ext cx="4974282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Acompañamiento institucional: Luis Eladio Porras Camargo,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Leidy Johana Ruiz Cortés y directivos del CDMC</a:t>
            </a:r>
            <a:endParaRPr lang="en-US" sz="1500" dirty="0"/>
          </a:p>
        </p:txBody>
      </p:sp>
      <p:sp>
        <p:nvSpPr>
          <p:cNvPr id="13" name="SK-4-text-12"/>
          <p:cNvSpPr/>
          <p:nvPr/>
        </p:nvSpPr>
        <p:spPr>
          <a:xfrm>
            <a:off x="3814465" y="6542484"/>
            <a:ext cx="452616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SENA · Centro del Diseño y Manufactura del Cuero · Regional Antioquia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2026-06-30T20:53:21Z</dcterms:created>
  <dcterms:modified xsi:type="dcterms:W3CDTF">2026-06-30T20:53:21Z</dcterms:modified>
</cp:coreProperties>
</file>